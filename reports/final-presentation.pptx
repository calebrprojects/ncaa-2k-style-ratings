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73353D-EFE8-4161-89C0-537B719C39DE}">
  <a:tblStyle styleId="{CE73353D-EFE8-4161-89C0-537B719C39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47734ce5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47734ce5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47734ce5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47734ce5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47734ce5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47734ce5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47734ce5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47734ce5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47734ce5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47734ce5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Women’s initial ratings are lower since the model was trained on men’s stats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These examples are from strong conferences but players from smaller conferences would be lowered by the Conference Difficulty Adjuster instead of raised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Scale Factors slightly reduce the impact of big-man stats due to our project having more of them available to avoid bias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Flagg is lower than Bueckers despite higher initial rating since the scaling is done relative to peers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47734ce5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47734ce5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Midmajor players from UC Irvine, Ball State, and Duquesne all fall out of the rankings due to the conference adjustment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Guards like Zeigler, Amoore, and Johnson get moved up due to accounting for the big-man bias in the stats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ACC is strong in women’s basketball but weak in men’s, as can be seen by Virginia boosting Johnson but Duke </a:t>
            </a:r>
            <a:r>
              <a:rPr lang="en"/>
              <a:t>hurting Flagg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a95622c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a95622c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47734ce5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47734ce5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plot shows a very encouraging trend between the two rankings, especially given that our goal wasn’t to match HDI - just a sign our rankings aren’t unreasonable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Considering there are over 3000 </a:t>
            </a:r>
            <a:r>
              <a:rPr lang="en"/>
              <a:t>players, many of whom in the lower ranks are very similar, an average difference of only 167 spots is quite good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Most of the outliers below the trendline are midmajor players with very high stats from very bad conferences, which is reasonable given how we built the rankings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Differences in the middle of the rankings are likely more valuable than gaps at the top, since everyone knows the top players are good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47734ce5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47734ce5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fact that this captures Final 4 Teams and #1 seeds suggests it was a good predictor of both regular season and tournament success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women’s ratings are again slightly lower due to a more balanced distribution of the high overall players compared to the men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Top Team section uses an 8-player rotation to avoid teams getting messed up by their walk-ons/end-of-bench players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47734ce5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47734ce5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47734ce5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47734ce5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47734ce5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47734ce5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C8C8C"/>
            </a:gs>
            <a:gs pos="100000">
              <a:srgbClr val="40404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7325" y="0"/>
            <a:ext cx="9144000" cy="5143500"/>
          </a:xfrm>
          <a:prstGeom prst="rect">
            <a:avLst/>
          </a:prstGeom>
          <a:noFill/>
          <a:ln cap="flat" cmpd="sng" w="114300">
            <a:solidFill>
              <a:srgbClr val="D65E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11110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Context-Aware       -Style Ratings for NCAA Basketball</a:t>
            </a:r>
            <a:endParaRPr b="1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9025" y="31636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C434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Baker Dean &amp; Caleb Ramsey</a:t>
            </a:r>
            <a:endParaRPr>
              <a:solidFill>
                <a:srgbClr val="4C434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18697" l="14086" r="14229" t="18641"/>
          <a:stretch/>
        </p:blipFill>
        <p:spPr>
          <a:xfrm>
            <a:off x="5594825" y="1612275"/>
            <a:ext cx="730701" cy="63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C8C8C"/>
            </a:gs>
            <a:gs pos="100000">
              <a:srgbClr val="40404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7325" y="0"/>
            <a:ext cx="9144000" cy="5143500"/>
          </a:xfrm>
          <a:prstGeom prst="rect">
            <a:avLst/>
          </a:prstGeom>
          <a:noFill/>
          <a:ln cap="flat" cmpd="sng" w="114300">
            <a:solidFill>
              <a:srgbClr val="D65E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373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Why </a:t>
            </a:r>
            <a:r>
              <a:rPr b="1" lang="en" u="sng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Traditional Stats Mislead</a:t>
            </a:r>
            <a:endParaRPr b="1" u="sng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1332" t="0"/>
          <a:stretch/>
        </p:blipFill>
        <p:spPr>
          <a:xfrm>
            <a:off x="160891" y="1123332"/>
            <a:ext cx="4378774" cy="2342369"/>
          </a:xfrm>
          <a:prstGeom prst="rect">
            <a:avLst/>
          </a:prstGeom>
          <a:noFill/>
          <a:ln cap="flat" cmpd="sng" w="9525">
            <a:solidFill>
              <a:srgbClr val="4C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5084" y="1123344"/>
            <a:ext cx="4378774" cy="2342368"/>
          </a:xfrm>
          <a:prstGeom prst="rect">
            <a:avLst/>
          </a:prstGeom>
          <a:noFill/>
          <a:ln cap="flat" cmpd="sng" w="9525">
            <a:solidFill>
              <a:srgbClr val="4C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" name="Google Shape;66;p14"/>
          <p:cNvSpPr txBox="1"/>
          <p:nvPr/>
        </p:nvSpPr>
        <p:spPr>
          <a:xfrm>
            <a:off x="1097700" y="3819900"/>
            <a:ext cx="69486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ctr"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2600"/>
              <a:buFont typeface="Source Sans Pro"/>
              <a:buChar char="●"/>
            </a:pPr>
            <a:r>
              <a:rPr lang="en" sz="26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PPG rewards usage, not efficiency or impact</a:t>
            </a:r>
            <a:endParaRPr sz="26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93700" lvl="0" marL="457200" rtl="0" algn="ctr"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2600"/>
              <a:buFont typeface="Source Sans Pro"/>
              <a:buChar char="●"/>
            </a:pPr>
            <a:r>
              <a:rPr lang="en" sz="26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Box scores ignore </a:t>
            </a:r>
            <a:r>
              <a:rPr lang="en" sz="26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opponent</a:t>
            </a:r>
            <a:r>
              <a:rPr lang="en" sz="26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strength</a:t>
            </a:r>
            <a:endParaRPr sz="26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67" name="Google Shape;67;p14"/>
          <p:cNvCxnSpPr/>
          <p:nvPr/>
        </p:nvCxnSpPr>
        <p:spPr>
          <a:xfrm>
            <a:off x="1540025" y="3744500"/>
            <a:ext cx="607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C8C8C"/>
            </a:gs>
            <a:gs pos="100000">
              <a:srgbClr val="40404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14300">
            <a:solidFill>
              <a:srgbClr val="D65E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41700"/>
            <a:ext cx="398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🏀 Player Performance</a:t>
            </a:r>
            <a:endParaRPr b="1" sz="30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🎽 Team Strength</a:t>
            </a:r>
            <a:endParaRPr b="1" sz="30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💪 Schedule Difficulty</a:t>
            </a:r>
            <a:endParaRPr b="1" sz="30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🗺️Conference Strength</a:t>
            </a:r>
            <a:endParaRPr b="1" sz="30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73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Methods</a:t>
            </a:r>
            <a:endParaRPr b="1" sz="3200" u="sng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75" name="Google Shape;75;p15"/>
          <p:cNvCxnSpPr/>
          <p:nvPr/>
        </p:nvCxnSpPr>
        <p:spPr>
          <a:xfrm>
            <a:off x="4553200" y="1217800"/>
            <a:ext cx="0" cy="322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" name="Google Shape;76;p15"/>
          <p:cNvSpPr txBox="1"/>
          <p:nvPr/>
        </p:nvSpPr>
        <p:spPr>
          <a:xfrm>
            <a:off x="4808900" y="1217800"/>
            <a:ext cx="39858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How much a player produces </a:t>
            </a:r>
            <a:endParaRPr b="1" sz="18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(ppg, rpg, apg, efficiency)</a:t>
            </a:r>
            <a:endParaRPr b="1" sz="18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How strong the players team is</a:t>
            </a:r>
            <a:endParaRPr b="1" sz="18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Average difficulty of opponents</a:t>
            </a:r>
            <a:endParaRPr b="1" sz="18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45720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Aggregated strength of each</a:t>
            </a:r>
            <a:endParaRPr b="1" sz="18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457200" lvl="0" marL="9144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conference</a:t>
            </a:r>
            <a:endParaRPr b="1" sz="18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292900" y="4621219"/>
            <a:ext cx="852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Data Processing: Joined HDI + Torvik + ESPN, cleaned naming conflicts, removed non-D1 &amp; low-minute players</a:t>
            </a:r>
            <a:endParaRPr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C8C8C"/>
            </a:gs>
            <a:gs pos="100000">
              <a:srgbClr val="40404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7325" y="0"/>
            <a:ext cx="9144000" cy="5143500"/>
          </a:xfrm>
          <a:prstGeom prst="rect">
            <a:avLst/>
          </a:prstGeom>
          <a:noFill/>
          <a:ln cap="flat" cmpd="sng" w="114300">
            <a:solidFill>
              <a:srgbClr val="D65E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2809475" y="323450"/>
            <a:ext cx="353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200" u="sng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Data Sources</a:t>
            </a:r>
            <a:endParaRPr b="1" sz="3200" u="sng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352925" y="2332200"/>
            <a:ext cx="8452800" cy="28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318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3200"/>
              <a:buFont typeface="Source Sans Pro"/>
              <a:buChar char="●"/>
            </a:pPr>
            <a:r>
              <a:rPr lang="en" sz="32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HDI Ratings (Provided by </a:t>
            </a:r>
            <a:r>
              <a:rPr lang="en" sz="3200">
                <a:solidFill>
                  <a:srgbClr val="861F4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VT MBB</a:t>
            </a:r>
            <a:r>
              <a:rPr lang="en" sz="32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</a:t>
            </a:r>
            <a:endParaRPr sz="32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318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3200"/>
              <a:buFont typeface="Source Sans Pro"/>
              <a:buChar char="●"/>
            </a:pPr>
            <a:r>
              <a:rPr lang="en" sz="32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Bart Torvik player stats (</a:t>
            </a:r>
            <a:r>
              <a:rPr lang="en" sz="3200">
                <a:solidFill>
                  <a:srgbClr val="9999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cbbdata</a:t>
            </a:r>
            <a:r>
              <a:rPr lang="en" sz="32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</a:t>
            </a:r>
            <a:endParaRPr sz="32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318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3200"/>
              <a:buFont typeface="Source Sans Pro"/>
              <a:buChar char="●"/>
            </a:pPr>
            <a:r>
              <a:rPr lang="en" sz="32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ESPN play-by-play &amp; box scores (</a:t>
            </a:r>
            <a:r>
              <a:rPr lang="en" sz="3200">
                <a:solidFill>
                  <a:srgbClr val="9999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wehoop</a:t>
            </a:r>
            <a:r>
              <a:rPr lang="en" sz="32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</a:t>
            </a:r>
            <a:endParaRPr sz="32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318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3200"/>
              <a:buFont typeface="Source Sans Pro"/>
              <a:buChar char="●"/>
            </a:pPr>
            <a:r>
              <a:rPr lang="en" sz="32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Official 2025 schedules (</a:t>
            </a:r>
            <a:r>
              <a:rPr lang="en" sz="3200">
                <a:solidFill>
                  <a:srgbClr val="9999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wehoop</a:t>
            </a:r>
            <a:r>
              <a:rPr lang="en" sz="32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</a:t>
            </a:r>
            <a:endParaRPr sz="32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318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3200"/>
              <a:buFont typeface="Source Sans Pro"/>
              <a:buChar char="●"/>
            </a:pPr>
            <a:r>
              <a:rPr lang="en" sz="32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Manual team to </a:t>
            </a:r>
            <a:r>
              <a:rPr lang="en" sz="32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conference</a:t>
            </a:r>
            <a:r>
              <a:rPr lang="en" sz="32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mapping</a:t>
            </a:r>
            <a:endParaRPr sz="32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C8C8C"/>
            </a:gs>
            <a:gs pos="100000">
              <a:srgbClr val="40404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7325" y="0"/>
            <a:ext cx="9144000" cy="5143500"/>
          </a:xfrm>
          <a:prstGeom prst="rect">
            <a:avLst/>
          </a:prstGeom>
          <a:noFill/>
          <a:ln cap="flat" cmpd="sng" w="114300">
            <a:solidFill>
              <a:srgbClr val="D65E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3735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Men’s Pipeline</a:t>
            </a:r>
            <a:endParaRPr b="1" u="sng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1030950" y="946225"/>
            <a:ext cx="2821800" cy="400800"/>
          </a:xfrm>
          <a:prstGeom prst="roundRect">
            <a:avLst>
              <a:gd fmla="val 16667" name="adj"/>
            </a:avLst>
          </a:prstGeom>
          <a:solidFill>
            <a:srgbClr val="861F41"/>
          </a:solidFill>
          <a:ln cap="flat" cmpd="sng" w="9525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HDI Ratings</a:t>
            </a:r>
            <a:endParaRPr b="1" sz="16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1030950" y="1637150"/>
            <a:ext cx="2821800" cy="400800"/>
          </a:xfrm>
          <a:prstGeom prst="roundRect">
            <a:avLst>
              <a:gd fmla="val 16667" name="adj"/>
            </a:avLst>
          </a:prstGeom>
          <a:solidFill>
            <a:srgbClr val="861F41"/>
          </a:solidFill>
          <a:ln cap="flat" cmpd="sng" w="9525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Player Stats</a:t>
            </a:r>
            <a:endParaRPr b="1" sz="16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1030950" y="2328075"/>
            <a:ext cx="2821800" cy="400800"/>
          </a:xfrm>
          <a:prstGeom prst="roundRect">
            <a:avLst>
              <a:gd fmla="val 16667" name="adj"/>
            </a:avLst>
          </a:prstGeom>
          <a:solidFill>
            <a:srgbClr val="861F41"/>
          </a:solidFill>
          <a:ln cap="flat" cmpd="sng" w="9525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Name Matching &amp; Cleaning</a:t>
            </a:r>
            <a:endParaRPr b="1" sz="16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1030950" y="3019000"/>
            <a:ext cx="2821800" cy="400800"/>
          </a:xfrm>
          <a:prstGeom prst="roundRect">
            <a:avLst>
              <a:gd fmla="val 16667" name="adj"/>
            </a:avLst>
          </a:prstGeom>
          <a:solidFill>
            <a:srgbClr val="861F41"/>
          </a:solidFill>
          <a:ln cap="flat" cmpd="sng" w="9525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Merged Player Dataset</a:t>
            </a:r>
            <a:endParaRPr b="1" sz="16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1030950" y="3709925"/>
            <a:ext cx="2821800" cy="400800"/>
          </a:xfrm>
          <a:prstGeom prst="roundRect">
            <a:avLst>
              <a:gd fmla="val 16667" name="adj"/>
            </a:avLst>
          </a:prstGeom>
          <a:solidFill>
            <a:srgbClr val="861F41"/>
          </a:solidFill>
          <a:ln cap="flat" cmpd="sng" w="9525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SOS &amp; Conference Strength</a:t>
            </a:r>
            <a:endParaRPr b="1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1030950" y="4400850"/>
            <a:ext cx="2821800" cy="400800"/>
          </a:xfrm>
          <a:prstGeom prst="roundRect">
            <a:avLst>
              <a:gd fmla="val 16667" name="adj"/>
            </a:avLst>
          </a:prstGeom>
          <a:solidFill>
            <a:srgbClr val="861F41"/>
          </a:solidFill>
          <a:ln cap="flat" cmpd="sng" w="9525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Adjusted Player Rating</a:t>
            </a:r>
            <a:endParaRPr b="1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7" name="Google Shape;97;p17"/>
          <p:cNvCxnSpPr>
            <a:stCxn id="91" idx="2"/>
            <a:endCxn id="92" idx="0"/>
          </p:cNvCxnSpPr>
          <p:nvPr/>
        </p:nvCxnSpPr>
        <p:spPr>
          <a:xfrm>
            <a:off x="2441850" y="1347025"/>
            <a:ext cx="0" cy="290100"/>
          </a:xfrm>
          <a:prstGeom prst="straightConnector1">
            <a:avLst/>
          </a:prstGeom>
          <a:noFill/>
          <a:ln cap="flat" cmpd="sng" w="9525">
            <a:solidFill>
              <a:srgbClr val="4C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7"/>
          <p:cNvCxnSpPr/>
          <p:nvPr/>
        </p:nvCxnSpPr>
        <p:spPr>
          <a:xfrm>
            <a:off x="2441850" y="2037963"/>
            <a:ext cx="0" cy="290100"/>
          </a:xfrm>
          <a:prstGeom prst="straightConnector1">
            <a:avLst/>
          </a:prstGeom>
          <a:noFill/>
          <a:ln cap="flat" cmpd="sng" w="9525">
            <a:solidFill>
              <a:srgbClr val="4C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7"/>
          <p:cNvCxnSpPr/>
          <p:nvPr/>
        </p:nvCxnSpPr>
        <p:spPr>
          <a:xfrm>
            <a:off x="2441850" y="2728888"/>
            <a:ext cx="0" cy="290100"/>
          </a:xfrm>
          <a:prstGeom prst="straightConnector1">
            <a:avLst/>
          </a:prstGeom>
          <a:noFill/>
          <a:ln cap="flat" cmpd="sng" w="9525">
            <a:solidFill>
              <a:srgbClr val="4C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7"/>
          <p:cNvCxnSpPr/>
          <p:nvPr/>
        </p:nvCxnSpPr>
        <p:spPr>
          <a:xfrm>
            <a:off x="2441850" y="3419813"/>
            <a:ext cx="0" cy="290100"/>
          </a:xfrm>
          <a:prstGeom prst="straightConnector1">
            <a:avLst/>
          </a:prstGeom>
          <a:noFill/>
          <a:ln cap="flat" cmpd="sng" w="9525">
            <a:solidFill>
              <a:srgbClr val="4C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7"/>
          <p:cNvCxnSpPr/>
          <p:nvPr/>
        </p:nvCxnSpPr>
        <p:spPr>
          <a:xfrm>
            <a:off x="2441850" y="4110725"/>
            <a:ext cx="0" cy="290100"/>
          </a:xfrm>
          <a:prstGeom prst="straightConnector1">
            <a:avLst/>
          </a:prstGeom>
          <a:noFill/>
          <a:ln cap="flat" cmpd="sng" w="9525">
            <a:solidFill>
              <a:srgbClr val="4C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7"/>
          <p:cNvSpPr txBox="1"/>
          <p:nvPr>
            <p:ph type="title"/>
          </p:nvPr>
        </p:nvSpPr>
        <p:spPr>
          <a:xfrm>
            <a:off x="4572000" y="373525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Wom</a:t>
            </a:r>
            <a:r>
              <a:rPr b="1" lang="en" u="sng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en’s Pipeline</a:t>
            </a:r>
            <a:endParaRPr b="1" u="sng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5291250" y="946225"/>
            <a:ext cx="2821800" cy="400800"/>
          </a:xfrm>
          <a:prstGeom prst="roundRect">
            <a:avLst>
              <a:gd fmla="val 16667" name="adj"/>
            </a:avLst>
          </a:prstGeom>
          <a:solidFill>
            <a:srgbClr val="861F41"/>
          </a:solidFill>
          <a:ln cap="flat" cmpd="sng" w="9525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ESPN Box Scores</a:t>
            </a:r>
            <a:endParaRPr b="1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5291250" y="1637150"/>
            <a:ext cx="2821800" cy="400800"/>
          </a:xfrm>
          <a:prstGeom prst="roundRect">
            <a:avLst>
              <a:gd fmla="val 16667" name="adj"/>
            </a:avLst>
          </a:prstGeom>
          <a:solidFill>
            <a:srgbClr val="861F41"/>
          </a:solidFill>
          <a:ln cap="flat" cmpd="sng" w="9525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Season Aggregation</a:t>
            </a:r>
            <a:endParaRPr b="1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5291250" y="2328075"/>
            <a:ext cx="2821800" cy="400800"/>
          </a:xfrm>
          <a:prstGeom prst="roundRect">
            <a:avLst>
              <a:gd fmla="val 16667" name="adj"/>
            </a:avLst>
          </a:prstGeom>
          <a:solidFill>
            <a:srgbClr val="861F41"/>
          </a:solidFill>
          <a:ln cap="flat" cmpd="sng" w="9525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Team &amp; Conference Mapping</a:t>
            </a:r>
            <a:endParaRPr b="1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5291250" y="3019000"/>
            <a:ext cx="2821800" cy="400800"/>
          </a:xfrm>
          <a:prstGeom prst="roundRect">
            <a:avLst>
              <a:gd fmla="val 16667" name="adj"/>
            </a:avLst>
          </a:prstGeom>
          <a:solidFill>
            <a:srgbClr val="861F41"/>
          </a:solidFill>
          <a:ln cap="flat" cmpd="sng" w="9525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Minutes/Stats Normalization</a:t>
            </a:r>
            <a:endParaRPr b="1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5291250" y="3709925"/>
            <a:ext cx="2821800" cy="400800"/>
          </a:xfrm>
          <a:prstGeom prst="roundRect">
            <a:avLst>
              <a:gd fmla="val 16667" name="adj"/>
            </a:avLst>
          </a:prstGeom>
          <a:solidFill>
            <a:srgbClr val="861F41"/>
          </a:solidFill>
          <a:ln cap="flat" cmpd="sng" w="9525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SOS &amp; Conference Strength</a:t>
            </a:r>
            <a:endParaRPr b="1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5291250" y="4400850"/>
            <a:ext cx="2821800" cy="400800"/>
          </a:xfrm>
          <a:prstGeom prst="roundRect">
            <a:avLst>
              <a:gd fmla="val 16667" name="adj"/>
            </a:avLst>
          </a:prstGeom>
          <a:solidFill>
            <a:srgbClr val="861F41"/>
          </a:solidFill>
          <a:ln cap="flat" cmpd="sng" w="9525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Adjusted Player Rating</a:t>
            </a:r>
            <a:endParaRPr b="1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9" name="Google Shape;109;p17"/>
          <p:cNvCxnSpPr/>
          <p:nvPr/>
        </p:nvCxnSpPr>
        <p:spPr>
          <a:xfrm>
            <a:off x="6702150" y="1347025"/>
            <a:ext cx="0" cy="290100"/>
          </a:xfrm>
          <a:prstGeom prst="straightConnector1">
            <a:avLst/>
          </a:prstGeom>
          <a:noFill/>
          <a:ln cap="flat" cmpd="sng" w="9525">
            <a:solidFill>
              <a:srgbClr val="4C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7"/>
          <p:cNvCxnSpPr/>
          <p:nvPr/>
        </p:nvCxnSpPr>
        <p:spPr>
          <a:xfrm>
            <a:off x="6702150" y="2037963"/>
            <a:ext cx="0" cy="290100"/>
          </a:xfrm>
          <a:prstGeom prst="straightConnector1">
            <a:avLst/>
          </a:prstGeom>
          <a:noFill/>
          <a:ln cap="flat" cmpd="sng" w="9525">
            <a:solidFill>
              <a:srgbClr val="4C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7"/>
          <p:cNvCxnSpPr/>
          <p:nvPr/>
        </p:nvCxnSpPr>
        <p:spPr>
          <a:xfrm>
            <a:off x="6702150" y="2728900"/>
            <a:ext cx="0" cy="290100"/>
          </a:xfrm>
          <a:prstGeom prst="straightConnector1">
            <a:avLst/>
          </a:prstGeom>
          <a:noFill/>
          <a:ln cap="flat" cmpd="sng" w="9525">
            <a:solidFill>
              <a:srgbClr val="4C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7"/>
          <p:cNvCxnSpPr/>
          <p:nvPr/>
        </p:nvCxnSpPr>
        <p:spPr>
          <a:xfrm>
            <a:off x="6702150" y="3419813"/>
            <a:ext cx="0" cy="290100"/>
          </a:xfrm>
          <a:prstGeom prst="straightConnector1">
            <a:avLst/>
          </a:prstGeom>
          <a:noFill/>
          <a:ln cap="flat" cmpd="sng" w="9525">
            <a:solidFill>
              <a:srgbClr val="4C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7"/>
          <p:cNvCxnSpPr/>
          <p:nvPr/>
        </p:nvCxnSpPr>
        <p:spPr>
          <a:xfrm>
            <a:off x="6702150" y="4110725"/>
            <a:ext cx="0" cy="290100"/>
          </a:xfrm>
          <a:prstGeom prst="straightConnector1">
            <a:avLst/>
          </a:prstGeom>
          <a:noFill/>
          <a:ln cap="flat" cmpd="sng" w="9525">
            <a:solidFill>
              <a:srgbClr val="4C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7"/>
          <p:cNvCxnSpPr/>
          <p:nvPr/>
        </p:nvCxnSpPr>
        <p:spPr>
          <a:xfrm flipH="1">
            <a:off x="4565700" y="632689"/>
            <a:ext cx="6300" cy="426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C8C8C"/>
            </a:gs>
            <a:gs pos="100000">
              <a:srgbClr val="40404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/>
          <p:nvPr/>
        </p:nvSpPr>
        <p:spPr>
          <a:xfrm>
            <a:off x="7325" y="0"/>
            <a:ext cx="9144000" cy="5143500"/>
          </a:xfrm>
          <a:prstGeom prst="rect">
            <a:avLst/>
          </a:prstGeom>
          <a:noFill/>
          <a:ln cap="flat" cmpd="sng" w="114300">
            <a:solidFill>
              <a:srgbClr val="D65E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0" name="Google Shape;120;p18"/>
          <p:cNvSpPr txBox="1"/>
          <p:nvPr>
            <p:ph type="title"/>
          </p:nvPr>
        </p:nvSpPr>
        <p:spPr>
          <a:xfrm>
            <a:off x="319025" y="214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How a Rating is Made</a:t>
            </a:r>
            <a:endParaRPr b="1" u="sng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151450" y="907100"/>
            <a:ext cx="442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r>
              <a:rPr lang="en" sz="1800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 Raw Stats Rating assigned by Model</a:t>
            </a:r>
            <a:endParaRPr sz="1800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2193700" y="2297400"/>
            <a:ext cx="336000" cy="451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-162800" y="1856303"/>
            <a:ext cx="50490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</a:t>
            </a:r>
            <a:r>
              <a:rPr lang="en" sz="1800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 Stats Adjusted By Scale Factors</a:t>
            </a:r>
            <a:endParaRPr sz="1800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2193700" y="3315675"/>
            <a:ext cx="336000" cy="451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 txBox="1"/>
          <p:nvPr/>
        </p:nvSpPr>
        <p:spPr>
          <a:xfrm>
            <a:off x="-217175" y="2760275"/>
            <a:ext cx="50490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3</a:t>
            </a:r>
            <a:r>
              <a:rPr lang="en" sz="1800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 Conference Difficulty Adjuster Applied</a:t>
            </a:r>
            <a:endParaRPr sz="1800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26" name="Google Shape;126;p18"/>
          <p:cNvGraphicFramePr/>
          <p:nvPr/>
        </p:nvGraphicFramePr>
        <p:xfrm>
          <a:off x="4411325" y="85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{CE73353D-EFE8-4161-89C0-537B719C39DE}</a:tableStyleId>
              </a:tblPr>
              <a:tblGrid>
                <a:gridCol w="1032425"/>
                <a:gridCol w="560150"/>
                <a:gridCol w="670900"/>
              </a:tblGrid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Name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School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Rating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Cooper Flagg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Duke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90.41477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" name="Google Shape;127;p18"/>
          <p:cNvGraphicFramePr/>
          <p:nvPr/>
        </p:nvGraphicFramePr>
        <p:xfrm>
          <a:off x="6719900" y="85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{CE73353D-EFE8-4161-89C0-537B719C39DE}</a:tableStyleId>
              </a:tblPr>
              <a:tblGrid>
                <a:gridCol w="1032425"/>
                <a:gridCol w="560150"/>
                <a:gridCol w="670900"/>
              </a:tblGrid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Name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School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Rating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Paige Bueckers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UConn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77.02615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28;p18"/>
          <p:cNvSpPr/>
          <p:nvPr/>
        </p:nvSpPr>
        <p:spPr>
          <a:xfrm>
            <a:off x="2193700" y="1375850"/>
            <a:ext cx="336000" cy="451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9" name="Google Shape;129;p18"/>
          <p:cNvGraphicFramePr/>
          <p:nvPr/>
        </p:nvGraphicFramePr>
        <p:xfrm>
          <a:off x="4411325" y="1968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{CE73353D-EFE8-4161-89C0-537B719C39DE}</a:tableStyleId>
              </a:tblPr>
              <a:tblGrid>
                <a:gridCol w="1032425"/>
                <a:gridCol w="560150"/>
                <a:gridCol w="670900"/>
              </a:tblGrid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Name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School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Rating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Cooper Flagg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Duke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91.61226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0" name="Google Shape;130;p18"/>
          <p:cNvGraphicFramePr/>
          <p:nvPr/>
        </p:nvGraphicFramePr>
        <p:xfrm>
          <a:off x="6719900" y="196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{CE73353D-EFE8-4161-89C0-537B719C39DE}</a:tableStyleId>
              </a:tblPr>
              <a:tblGrid>
                <a:gridCol w="1032425"/>
                <a:gridCol w="560150"/>
                <a:gridCol w="670900"/>
              </a:tblGrid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Name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School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Rating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Paige Bueckers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UConn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78.04127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1" name="Google Shape;131;p18"/>
          <p:cNvGraphicFramePr/>
          <p:nvPr/>
        </p:nvGraphicFramePr>
        <p:xfrm>
          <a:off x="4411325" y="2886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{CE73353D-EFE8-4161-89C0-537B719C39DE}</a:tableStyleId>
              </a:tblPr>
              <a:tblGrid>
                <a:gridCol w="1032425"/>
                <a:gridCol w="560150"/>
                <a:gridCol w="670900"/>
              </a:tblGrid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Name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School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Rating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Cooper Flagg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Duke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103.0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" name="Google Shape;132;p18"/>
          <p:cNvGraphicFramePr/>
          <p:nvPr/>
        </p:nvGraphicFramePr>
        <p:xfrm>
          <a:off x="6719900" y="288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{CE73353D-EFE8-4161-89C0-537B719C39DE}</a:tableStyleId>
              </a:tblPr>
              <a:tblGrid>
                <a:gridCol w="1032425"/>
                <a:gridCol w="560150"/>
                <a:gridCol w="670900"/>
              </a:tblGrid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Name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School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Rating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Paige Bueckers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UConn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81.1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3" name="Google Shape;133;p18"/>
          <p:cNvGraphicFramePr/>
          <p:nvPr/>
        </p:nvGraphicFramePr>
        <p:xfrm>
          <a:off x="4411325" y="3920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{CE73353D-EFE8-4161-89C0-537B719C39DE}</a:tableStyleId>
              </a:tblPr>
              <a:tblGrid>
                <a:gridCol w="1032425"/>
                <a:gridCol w="560150"/>
                <a:gridCol w="670900"/>
              </a:tblGrid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Name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School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Rating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Cooper Flagg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Duke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134;p18"/>
          <p:cNvSpPr txBox="1"/>
          <p:nvPr/>
        </p:nvSpPr>
        <p:spPr>
          <a:xfrm>
            <a:off x="980950" y="3806100"/>
            <a:ext cx="27615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</a:t>
            </a:r>
            <a:r>
              <a:rPr lang="en" sz="1800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- Ratings Scaled 2K-Style</a:t>
            </a:r>
            <a:endParaRPr sz="1800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35" name="Google Shape;135;p18"/>
          <p:cNvGraphicFramePr/>
          <p:nvPr/>
        </p:nvGraphicFramePr>
        <p:xfrm>
          <a:off x="6719900" y="392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{CE73353D-EFE8-4161-89C0-537B719C39DE}</a:tableStyleId>
              </a:tblPr>
              <a:tblGrid>
                <a:gridCol w="1032425"/>
                <a:gridCol w="560150"/>
                <a:gridCol w="670900"/>
              </a:tblGrid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Name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School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Rating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Paige Bueckers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UConn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C8C8C"/>
            </a:gs>
            <a:gs pos="100000">
              <a:srgbClr val="40404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/>
          <p:nvPr/>
        </p:nvSpPr>
        <p:spPr>
          <a:xfrm>
            <a:off x="7325" y="0"/>
            <a:ext cx="9144000" cy="5143500"/>
          </a:xfrm>
          <a:prstGeom prst="rect">
            <a:avLst/>
          </a:prstGeom>
          <a:noFill/>
          <a:ln cap="flat" cmpd="sng" w="114300">
            <a:solidFill>
              <a:srgbClr val="D65E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 txBox="1"/>
          <p:nvPr>
            <p:ph type="title"/>
          </p:nvPr>
        </p:nvSpPr>
        <p:spPr>
          <a:xfrm>
            <a:off x="5759138" y="75225"/>
            <a:ext cx="223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 u="sng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Final Ratings</a:t>
            </a:r>
            <a:endParaRPr b="1" u="sng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rgbClr val="1A1A1A"/>
              </a:solidFill>
            </a:endParaRPr>
          </a:p>
        </p:txBody>
      </p:sp>
      <p:graphicFrame>
        <p:nvGraphicFramePr>
          <p:cNvPr id="142" name="Google Shape;142;p19"/>
          <p:cNvGraphicFramePr/>
          <p:nvPr/>
        </p:nvGraphicFramePr>
        <p:xfrm>
          <a:off x="4688925" y="687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{CE73353D-EFE8-4161-89C0-537B719C39DE}</a:tableStyleId>
              </a:tblPr>
              <a:tblGrid>
                <a:gridCol w="1826200"/>
                <a:gridCol w="1485400"/>
                <a:gridCol w="1067100"/>
              </a:tblGrid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Name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School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Rating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Ryan Kalkbrenner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Creighton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Johni Broome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9900"/>
                          </a:solidFill>
                        </a:rPr>
                        <a:t>Auburn</a:t>
                      </a:r>
                      <a:endParaRPr sz="1000">
                        <a:solidFill>
                          <a:srgbClr val="FF99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Collin Murray-Boyles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South Carolina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97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Cooper Flagg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Duke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Zakai Zeigler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Tennessee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Zuby Ejiofor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St. John's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Kam Jones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1C232"/>
                          </a:solidFill>
                        </a:rPr>
                        <a:t>Marquette</a:t>
                      </a:r>
                      <a:endParaRPr sz="1000">
                        <a:solidFill>
                          <a:srgbClr val="F1C23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Walter Clayton Jr.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9900"/>
                          </a:solidFill>
                        </a:rPr>
                        <a:t>Florida</a:t>
                      </a:r>
                      <a:endParaRPr sz="1000">
                        <a:solidFill>
                          <a:srgbClr val="FF99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Hunter Dickinson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Kansas</a:t>
                      </a:r>
                      <a:endParaRPr sz="10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Bruce Thornton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B7B7B7"/>
                          </a:solidFill>
                        </a:rPr>
                        <a:t>Ohio St.</a:t>
                      </a:r>
                      <a:endParaRPr sz="1000">
                        <a:solidFill>
                          <a:srgbClr val="B7B7B7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3" name="Google Shape;143;p19"/>
          <p:cNvGraphicFramePr/>
          <p:nvPr/>
        </p:nvGraphicFramePr>
        <p:xfrm>
          <a:off x="4688950" y="29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{CE73353D-EFE8-4161-89C0-537B719C39DE}</a:tableStyleId>
              </a:tblPr>
              <a:tblGrid>
                <a:gridCol w="1826200"/>
                <a:gridCol w="1485400"/>
                <a:gridCol w="1067075"/>
              </a:tblGrid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Name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School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Rating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Paige Bueckers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UConn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Serena Sundell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Kansas State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Georgia Amoore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Kentucky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Olivia Miles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E69138"/>
                          </a:solidFill>
                        </a:rPr>
                        <a:t>Notre Dame</a:t>
                      </a:r>
                      <a:endParaRPr sz="1000">
                        <a:solidFill>
                          <a:srgbClr val="E6913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Kymora Johnson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9900"/>
                          </a:solidFill>
                        </a:rPr>
                        <a:t>Virginia</a:t>
                      </a:r>
                      <a:endParaRPr sz="1000">
                        <a:solidFill>
                          <a:srgbClr val="FF99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Payton Verhulst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Oklahoma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Katie Dinnebier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Drake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Sarah Strong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UConn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Emily Ryan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9900"/>
                          </a:solidFill>
                        </a:rPr>
                        <a:t>Iowa State</a:t>
                      </a:r>
                      <a:endParaRPr sz="1000">
                        <a:solidFill>
                          <a:srgbClr val="FF99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Kiki Rice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9900"/>
                          </a:solidFill>
                        </a:rPr>
                        <a:t>UCLA</a:t>
                      </a:r>
                      <a:endParaRPr sz="1000">
                        <a:solidFill>
                          <a:srgbClr val="FF99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" name="Google Shape;144;p19"/>
          <p:cNvGraphicFramePr/>
          <p:nvPr/>
        </p:nvGraphicFramePr>
        <p:xfrm>
          <a:off x="87575" y="68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{CE73353D-EFE8-4161-89C0-537B719C39DE}</a:tableStyleId>
              </a:tblPr>
              <a:tblGrid>
                <a:gridCol w="1826175"/>
                <a:gridCol w="1485400"/>
                <a:gridCol w="1067100"/>
              </a:tblGrid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Player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School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Rating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Ryan Kalkbrenner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Creighton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Johni Broome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9900"/>
                          </a:solidFill>
                        </a:rPr>
                        <a:t>Auburn</a:t>
                      </a:r>
                      <a:endParaRPr sz="1000">
                        <a:solidFill>
                          <a:srgbClr val="FF99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Cooper Flagg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Duke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Hunter Dickinson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Kansas</a:t>
                      </a:r>
                      <a:endParaRPr sz="10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Collin Murray-Boyles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South Carolina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Zuby Ejiofor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St. John's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Yaxel Lendeborg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UAB</a:t>
                      </a:r>
                      <a:endParaRPr sz="10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Zakai Zeigler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Tennessee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Bent Leuchten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1C232"/>
                          </a:solidFill>
                        </a:rPr>
                        <a:t>UC Irvine</a:t>
                      </a:r>
                      <a:endParaRPr sz="1000">
                        <a:solidFill>
                          <a:srgbClr val="F1C23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5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Oumar Ballo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Indiana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" name="Google Shape;145;p19"/>
          <p:cNvGraphicFramePr/>
          <p:nvPr/>
        </p:nvGraphicFramePr>
        <p:xfrm>
          <a:off x="87575" y="29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{CE73353D-EFE8-4161-89C0-537B719C39DE}</a:tableStyleId>
              </a:tblPr>
              <a:tblGrid>
                <a:gridCol w="1826200"/>
                <a:gridCol w="1485375"/>
                <a:gridCol w="1067100"/>
              </a:tblGrid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Name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School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Rating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Paige Bueckers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UConn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Ally Becki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Ball State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Katie Dinnebier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Drake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Serena Sundell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Kansas State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Sarah Strong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UConn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Megan McConnell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Duquesne</a:t>
                      </a:r>
                      <a:endParaRPr sz="10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Olivia Miles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E69138"/>
                          </a:solidFill>
                        </a:rPr>
                        <a:t>Notre Dame</a:t>
                      </a:r>
                      <a:endParaRPr sz="1000">
                        <a:solidFill>
                          <a:srgbClr val="E6913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Payton Verhulst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Oklahoma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Georgia Amoore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Kentucky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9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Kymora Johnson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9900"/>
                          </a:solidFill>
                        </a:rPr>
                        <a:t>Virginia</a:t>
                      </a:r>
                      <a:endParaRPr sz="1000">
                        <a:solidFill>
                          <a:srgbClr val="FF99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  <p:sp>
        <p:nvSpPr>
          <p:cNvPr id="146" name="Google Shape;146;p19"/>
          <p:cNvSpPr txBox="1"/>
          <p:nvPr>
            <p:ph type="title"/>
          </p:nvPr>
        </p:nvSpPr>
        <p:spPr>
          <a:xfrm>
            <a:off x="1125128" y="114450"/>
            <a:ext cx="257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 u="sng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Initial Ratings</a:t>
            </a:r>
            <a:endParaRPr b="1" u="sng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rgbClr val="1A1A1A"/>
              </a:solidFill>
            </a:endParaRPr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>
            <a:off x="4317588" y="75225"/>
            <a:ext cx="50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 u="sng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vs</a:t>
            </a:r>
            <a:endParaRPr b="1" u="sng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C8C8C"/>
            </a:gs>
            <a:gs pos="100000">
              <a:srgbClr val="40404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/>
          <p:nvPr/>
        </p:nvSpPr>
        <p:spPr>
          <a:xfrm>
            <a:off x="7325" y="0"/>
            <a:ext cx="9144000" cy="5143500"/>
          </a:xfrm>
          <a:prstGeom prst="rect">
            <a:avLst/>
          </a:prstGeom>
          <a:noFill/>
          <a:ln cap="flat" cmpd="sng" w="114300">
            <a:solidFill>
              <a:srgbClr val="D65E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0"/>
          <p:cNvPicPr preferRelativeResize="0"/>
          <p:nvPr/>
        </p:nvPicPr>
        <p:blipFill rotWithShape="1">
          <a:blip r:embed="rId3">
            <a:alphaModFix/>
          </a:blip>
          <a:srcRect b="0" l="2676" r="0" t="7123"/>
          <a:stretch/>
        </p:blipFill>
        <p:spPr>
          <a:xfrm>
            <a:off x="603050" y="787000"/>
            <a:ext cx="7952552" cy="386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0"/>
          <p:cNvSpPr txBox="1"/>
          <p:nvPr>
            <p:ph type="title"/>
          </p:nvPr>
        </p:nvSpPr>
        <p:spPr>
          <a:xfrm>
            <a:off x="311700" y="10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Who Rises &amp; Who Falls?</a:t>
            </a:r>
            <a:endParaRPr b="1" u="sng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C8C8C"/>
            </a:gs>
            <a:gs pos="100000">
              <a:srgbClr val="40404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/>
          <p:nvPr/>
        </p:nvSpPr>
        <p:spPr>
          <a:xfrm>
            <a:off x="7325" y="0"/>
            <a:ext cx="9144000" cy="5143500"/>
          </a:xfrm>
          <a:prstGeom prst="rect">
            <a:avLst/>
          </a:prstGeom>
          <a:noFill/>
          <a:ln cap="flat" cmpd="sng" w="114300">
            <a:solidFill>
              <a:srgbClr val="D65E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 txBox="1"/>
          <p:nvPr>
            <p:ph type="title"/>
          </p:nvPr>
        </p:nvSpPr>
        <p:spPr>
          <a:xfrm>
            <a:off x="311700" y="10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Comparison with HDI</a:t>
            </a:r>
            <a:endParaRPr b="1" u="sng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61" name="Google Shape;16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075" y="681550"/>
            <a:ext cx="4930650" cy="14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 txBox="1"/>
          <p:nvPr/>
        </p:nvSpPr>
        <p:spPr>
          <a:xfrm>
            <a:off x="5204325" y="894875"/>
            <a:ext cx="37401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Spearman rho is a metric that explains how similar the </a:t>
            </a:r>
            <a:r>
              <a:rPr i="1" lang="en" sz="1800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ranks</a:t>
            </a:r>
            <a:r>
              <a:rPr lang="en" sz="1800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of two lists are: 0.9626 is quite good</a:t>
            </a:r>
            <a:endParaRPr sz="1800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63" name="Google Shape;16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075" y="2138725"/>
            <a:ext cx="8711349" cy="289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C8C8C"/>
            </a:gs>
            <a:gs pos="100000">
              <a:srgbClr val="40404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/>
          <p:nvPr/>
        </p:nvSpPr>
        <p:spPr>
          <a:xfrm>
            <a:off x="7325" y="0"/>
            <a:ext cx="9144000" cy="5143500"/>
          </a:xfrm>
          <a:prstGeom prst="rect">
            <a:avLst/>
          </a:prstGeom>
          <a:noFill/>
          <a:ln cap="flat" cmpd="sng" w="114300">
            <a:solidFill>
              <a:srgbClr val="D65E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 txBox="1"/>
          <p:nvPr>
            <p:ph type="title"/>
          </p:nvPr>
        </p:nvSpPr>
        <p:spPr>
          <a:xfrm>
            <a:off x="311700" y="153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Predictive of Team Success?</a:t>
            </a:r>
            <a:endParaRPr b="1" u="sng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70" name="Google Shape;170;p22"/>
          <p:cNvGraphicFramePr/>
          <p:nvPr/>
        </p:nvGraphicFramePr>
        <p:xfrm>
          <a:off x="311700" y="18000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{CE73353D-EFE8-4161-89C0-537B719C39DE}</a:tableStyleId>
              </a:tblPr>
              <a:tblGrid>
                <a:gridCol w="1711025"/>
                <a:gridCol w="1023200"/>
              </a:tblGrid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School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Rating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6D01"/>
                          </a:solidFill>
                        </a:rPr>
                        <a:t>Auburn</a:t>
                      </a:r>
                      <a:endParaRPr sz="1000">
                        <a:solidFill>
                          <a:srgbClr val="FF6D0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85.5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6D01"/>
                          </a:solidFill>
                        </a:rPr>
                        <a:t>Florida</a:t>
                      </a:r>
                      <a:endParaRPr sz="1000">
                        <a:solidFill>
                          <a:srgbClr val="FF6D0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84.4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Alabama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84.1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Kentucky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83.4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Arizona</a:t>
                      </a:r>
                      <a:endParaRPr sz="1000">
                        <a:solidFill>
                          <a:srgbClr val="FF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83.1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Duke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Tennessee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Illinois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D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9900"/>
                          </a:solidFill>
                        </a:rPr>
                        <a:t>Iowa State</a:t>
                      </a:r>
                      <a:endParaRPr sz="1000">
                        <a:solidFill>
                          <a:srgbClr val="FF99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Houston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  <p:sp>
        <p:nvSpPr>
          <p:cNvPr id="171" name="Google Shape;171;p22"/>
          <p:cNvSpPr txBox="1"/>
          <p:nvPr/>
        </p:nvSpPr>
        <p:spPr>
          <a:xfrm>
            <a:off x="374600" y="872450"/>
            <a:ext cx="589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Top Teams by Rotation Average Rating</a:t>
            </a:r>
            <a:endParaRPr b="1" sz="1800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72" name="Google Shape;172;p22"/>
          <p:cNvGraphicFramePr/>
          <p:nvPr/>
        </p:nvGraphicFramePr>
        <p:xfrm>
          <a:off x="3534775" y="18000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{CE73353D-EFE8-4161-89C0-537B719C39DE}</a:tableStyleId>
              </a:tblPr>
              <a:tblGrid>
                <a:gridCol w="1711025"/>
                <a:gridCol w="1023200"/>
              </a:tblGrid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School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Rating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UConn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81.5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9900"/>
                          </a:solidFill>
                        </a:rPr>
                        <a:t>Baylor</a:t>
                      </a:r>
                      <a:endParaRPr sz="1000">
                        <a:solidFill>
                          <a:srgbClr val="FF99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74E1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79.8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South Carolina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79.1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Georgia Tech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78.8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9900"/>
                          </a:solidFill>
                        </a:rPr>
                        <a:t>USC</a:t>
                      </a:r>
                      <a:endParaRPr sz="1000">
                        <a:solidFill>
                          <a:srgbClr val="FF99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79.1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Tennessee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77.8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Oklahoma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77.6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E69138"/>
                          </a:solidFill>
                        </a:rPr>
                        <a:t>Notre Dame</a:t>
                      </a:r>
                      <a:endParaRPr sz="1000">
                        <a:solidFill>
                          <a:srgbClr val="E6913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77.5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TCU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77.2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1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Creighton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77.1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22"/>
          <p:cNvSpPr txBox="1"/>
          <p:nvPr/>
        </p:nvSpPr>
        <p:spPr>
          <a:xfrm>
            <a:off x="419413" y="1412814"/>
            <a:ext cx="251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Men</a:t>
            </a:r>
            <a:endParaRPr sz="1600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3534775" y="1412814"/>
            <a:ext cx="273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Women</a:t>
            </a:r>
            <a:endParaRPr sz="1600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6590400" y="1711500"/>
            <a:ext cx="23730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These lists capture:</a:t>
            </a:r>
            <a:endParaRPr sz="1800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6409800" y="2070000"/>
            <a:ext cx="2734200" cy="23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Source Sans Pro"/>
              <a:buChar char="●"/>
            </a:pPr>
            <a:r>
              <a:rPr b="1" lang="en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6 of the 8</a:t>
            </a:r>
            <a:r>
              <a:rPr lang="en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Final 4 Teams</a:t>
            </a:r>
            <a:endParaRPr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Source Sans Pro"/>
              <a:buChar char="●"/>
            </a:pPr>
            <a:r>
              <a:rPr b="1" lang="en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11 of the 16</a:t>
            </a:r>
            <a:r>
              <a:rPr lang="en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Elite 8 Teams</a:t>
            </a:r>
            <a:endParaRPr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Source Sans Pro"/>
              <a:buChar char="●"/>
            </a:pPr>
            <a:r>
              <a:rPr b="1" lang="en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Both</a:t>
            </a:r>
            <a:r>
              <a:rPr lang="en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National Champions (within the top 2)</a:t>
            </a:r>
            <a:endParaRPr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Source Sans Pro"/>
              <a:buChar char="●"/>
            </a:pPr>
            <a:r>
              <a:rPr b="1" lang="en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Both</a:t>
            </a:r>
            <a:r>
              <a:rPr lang="en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National Player of the Years and Runner Ups</a:t>
            </a:r>
            <a:endParaRPr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Men’s teams seeded</a:t>
            </a:r>
            <a:endParaRPr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1, 1, 1, 1, 2, 2, 2, 3, 3, 4</a:t>
            </a:r>
            <a:endParaRPr b="1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Women’s teams seeded</a:t>
            </a:r>
            <a:endParaRPr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1, 1, 2, 2, 3, 3, 4, 4, 5, 9</a:t>
            </a:r>
            <a:endParaRPr b="1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C8C8C"/>
            </a:gs>
            <a:gs pos="100000">
              <a:srgbClr val="40404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14300">
            <a:solidFill>
              <a:srgbClr val="D65E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3"/>
          <p:cNvSpPr txBox="1"/>
          <p:nvPr>
            <p:ph type="title"/>
          </p:nvPr>
        </p:nvSpPr>
        <p:spPr>
          <a:xfrm>
            <a:off x="311700" y="347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1A1A1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How Staffs Can Use It</a:t>
            </a:r>
            <a:endParaRPr b="1" u="sng">
              <a:solidFill>
                <a:srgbClr val="1A1A1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867550" y="1114875"/>
            <a:ext cx="772200" cy="717600"/>
          </a:xfrm>
          <a:prstGeom prst="ellipse">
            <a:avLst/>
          </a:prstGeom>
          <a:noFill/>
          <a:ln cap="flat" cmpd="sng" w="76200">
            <a:solidFill>
              <a:srgbClr val="861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3"/>
          <p:cNvSpPr/>
          <p:nvPr/>
        </p:nvSpPr>
        <p:spPr>
          <a:xfrm rot="-6502703">
            <a:off x="927875" y="1316520"/>
            <a:ext cx="384407" cy="314299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861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3"/>
          <p:cNvSpPr/>
          <p:nvPr/>
        </p:nvSpPr>
        <p:spPr>
          <a:xfrm rot="-2331278">
            <a:off x="424405" y="1778192"/>
            <a:ext cx="592495" cy="211633"/>
          </a:xfrm>
          <a:prstGeom prst="ellipse">
            <a:avLst/>
          </a:prstGeom>
          <a:solidFill>
            <a:srgbClr val="861F41"/>
          </a:solidFill>
          <a:ln cap="flat" cmpd="sng" w="38100">
            <a:solidFill>
              <a:srgbClr val="861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3"/>
          <p:cNvSpPr txBox="1"/>
          <p:nvPr>
            <p:ph idx="1" type="body"/>
          </p:nvPr>
        </p:nvSpPr>
        <p:spPr>
          <a:xfrm>
            <a:off x="1993025" y="919850"/>
            <a:ext cx="3999900" cy="25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6D0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Player Evaluation</a:t>
            </a:r>
            <a:endParaRPr b="1">
              <a:solidFill>
                <a:srgbClr val="FF6D0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FF6D0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(Portal &amp; Recruiting)</a:t>
            </a:r>
            <a:endParaRPr b="1" sz="1400">
              <a:solidFill>
                <a:srgbClr val="FF6D0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D0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rgbClr val="FF6D0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Identify mid-major stars that translate up to high major leagues</a:t>
            </a:r>
            <a:endParaRPr sz="1200">
              <a:solidFill>
                <a:srgbClr val="FF6D0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D0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rgbClr val="FF6D0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“Players between 70-80 overall in the Big West tend to perform well at the ACC level; Players who have low stat ratings in the Big East don’t translate well to high-major schools”</a:t>
            </a:r>
            <a:endParaRPr sz="1200">
              <a:solidFill>
                <a:srgbClr val="FF6D0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FF6D0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rgbClr val="FF6D0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Compare players to historical precedent with similar profiles</a:t>
            </a:r>
            <a:endParaRPr sz="1200">
              <a:solidFill>
                <a:srgbClr val="FF6D0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445675" y="4385610"/>
            <a:ext cx="1348800" cy="78600"/>
          </a:xfrm>
          <a:prstGeom prst="rect">
            <a:avLst/>
          </a:prstGeom>
          <a:solidFill>
            <a:srgbClr val="861F41"/>
          </a:solidFill>
          <a:ln cap="flat" cmpd="sng" w="11450">
            <a:solidFill>
              <a:srgbClr val="861F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050" lIns="110050" spcFirstLastPara="1" rIns="110050" wrap="square" tIns="110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5"/>
          </a:p>
        </p:txBody>
      </p:sp>
      <p:cxnSp>
        <p:nvCxnSpPr>
          <p:cNvPr id="188" name="Google Shape;188;p23"/>
          <p:cNvCxnSpPr/>
          <p:nvPr/>
        </p:nvCxnSpPr>
        <p:spPr>
          <a:xfrm flipH="1" rot="10800000">
            <a:off x="805996" y="3921030"/>
            <a:ext cx="314100" cy="523500"/>
          </a:xfrm>
          <a:prstGeom prst="straightConnector1">
            <a:avLst/>
          </a:prstGeom>
          <a:noFill/>
          <a:ln cap="flat" cmpd="sng" w="91725">
            <a:solidFill>
              <a:srgbClr val="861F4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3"/>
          <p:cNvCxnSpPr/>
          <p:nvPr/>
        </p:nvCxnSpPr>
        <p:spPr>
          <a:xfrm rot="10800000">
            <a:off x="1086966" y="3954180"/>
            <a:ext cx="196800" cy="117300"/>
          </a:xfrm>
          <a:prstGeom prst="straightConnector1">
            <a:avLst/>
          </a:prstGeom>
          <a:noFill/>
          <a:ln cap="flat" cmpd="sng" w="91725">
            <a:solidFill>
              <a:srgbClr val="861F4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3"/>
          <p:cNvCxnSpPr/>
          <p:nvPr/>
        </p:nvCxnSpPr>
        <p:spPr>
          <a:xfrm flipH="1" rot="10800000">
            <a:off x="1244496" y="3384060"/>
            <a:ext cx="464700" cy="667800"/>
          </a:xfrm>
          <a:prstGeom prst="straightConnector1">
            <a:avLst/>
          </a:prstGeom>
          <a:noFill/>
          <a:ln cap="flat" cmpd="sng" w="91725">
            <a:solidFill>
              <a:srgbClr val="861F4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1" name="Google Shape;191;p23"/>
          <p:cNvSpPr txBox="1"/>
          <p:nvPr>
            <p:ph idx="1" type="body"/>
          </p:nvPr>
        </p:nvSpPr>
        <p:spPr>
          <a:xfrm>
            <a:off x="1993025" y="3223325"/>
            <a:ext cx="4320600" cy="20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6D0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Roster Construction</a:t>
            </a:r>
            <a:endParaRPr b="1" sz="1400">
              <a:solidFill>
                <a:srgbClr val="FF6D0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D0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rgbClr val="FF6D0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Understanding ratings that predict deep tournament runs</a:t>
            </a:r>
            <a:endParaRPr sz="1200">
              <a:solidFill>
                <a:srgbClr val="FF6D0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D0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rgbClr val="FF6D0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Build optimized lineups using rating thresholds for Guard/Wing/Big</a:t>
            </a:r>
            <a:endParaRPr sz="1200">
              <a:solidFill>
                <a:srgbClr val="FF6D0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FF6D01"/>
              </a:buClr>
              <a:buSzPts val="1200"/>
              <a:buFont typeface="Source Sans Pro"/>
              <a:buChar char="●"/>
            </a:pPr>
            <a:r>
              <a:rPr lang="en" sz="1200">
                <a:solidFill>
                  <a:srgbClr val="FF6D0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Teams that advance to the Sweet 16 from the SEC always have a guard who ≥84 overall &amp; a big who is  </a:t>
            </a:r>
            <a:r>
              <a:rPr lang="en" sz="1200">
                <a:solidFill>
                  <a:srgbClr val="FF6D0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≥82 overall.”</a:t>
            </a:r>
            <a:endParaRPr sz="1200">
              <a:solidFill>
                <a:srgbClr val="FF6D0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6510600" y="1135800"/>
            <a:ext cx="2197500" cy="644100"/>
          </a:xfrm>
          <a:prstGeom prst="roundRect">
            <a:avLst>
              <a:gd fmla="val 16667" name="adj"/>
            </a:avLst>
          </a:prstGeom>
          <a:solidFill>
            <a:srgbClr val="861F41"/>
          </a:solidFill>
          <a:ln cap="flat" cmpd="sng" w="9525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Scout</a:t>
            </a:r>
            <a:endParaRPr b="1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Identify targets in portal/HS</a:t>
            </a:r>
            <a:endParaRPr b="1" sz="1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6517650" y="2113500"/>
            <a:ext cx="2197500" cy="644100"/>
          </a:xfrm>
          <a:prstGeom prst="roundRect">
            <a:avLst>
              <a:gd fmla="val 16667" name="adj"/>
            </a:avLst>
          </a:prstGeom>
          <a:solidFill>
            <a:srgbClr val="861F41"/>
          </a:solidFill>
          <a:ln cap="flat" cmpd="sng" w="9525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Evaluate</a:t>
            </a:r>
            <a:endParaRPr b="1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 context-adjusted rating &amp; role</a:t>
            </a:r>
            <a:endParaRPr b="1" sz="1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6517650" y="3091200"/>
            <a:ext cx="2197500" cy="620100"/>
          </a:xfrm>
          <a:prstGeom prst="roundRect">
            <a:avLst>
              <a:gd fmla="val 16667" name="adj"/>
            </a:avLst>
          </a:prstGeom>
          <a:solidFill>
            <a:srgbClr val="861F41"/>
          </a:solidFill>
          <a:ln cap="flat" cmpd="sng" w="9525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Compare</a:t>
            </a:r>
            <a:endParaRPr b="1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Benchmarks by conference/rotation</a:t>
            </a:r>
            <a:endParaRPr b="1" sz="1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6517650" y="4054550"/>
            <a:ext cx="2197500" cy="620100"/>
          </a:xfrm>
          <a:prstGeom prst="roundRect">
            <a:avLst>
              <a:gd fmla="val 16667" name="adj"/>
            </a:avLst>
          </a:prstGeom>
          <a:solidFill>
            <a:srgbClr val="861F41"/>
          </a:solidFill>
          <a:ln cap="flat" cmpd="sng" w="9525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Decision</a:t>
            </a:r>
            <a:endParaRPr b="1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Pass / dive into film</a:t>
            </a:r>
            <a:endParaRPr b="1" sz="1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96" name="Google Shape;196;p23"/>
          <p:cNvCxnSpPr>
            <a:stCxn id="192" idx="2"/>
            <a:endCxn id="193" idx="0"/>
          </p:cNvCxnSpPr>
          <p:nvPr/>
        </p:nvCxnSpPr>
        <p:spPr>
          <a:xfrm>
            <a:off x="7609350" y="1779900"/>
            <a:ext cx="7200" cy="333600"/>
          </a:xfrm>
          <a:prstGeom prst="straightConnector1">
            <a:avLst/>
          </a:prstGeom>
          <a:noFill/>
          <a:ln cap="flat" cmpd="sng" w="28575">
            <a:solidFill>
              <a:srgbClr val="38323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3"/>
          <p:cNvCxnSpPr/>
          <p:nvPr/>
        </p:nvCxnSpPr>
        <p:spPr>
          <a:xfrm>
            <a:off x="7609350" y="2761911"/>
            <a:ext cx="0" cy="333600"/>
          </a:xfrm>
          <a:prstGeom prst="straightConnector1">
            <a:avLst/>
          </a:prstGeom>
          <a:noFill/>
          <a:ln cap="flat" cmpd="sng" w="28575">
            <a:solidFill>
              <a:srgbClr val="38323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3"/>
          <p:cNvCxnSpPr/>
          <p:nvPr/>
        </p:nvCxnSpPr>
        <p:spPr>
          <a:xfrm>
            <a:off x="7616400" y="3716127"/>
            <a:ext cx="0" cy="333600"/>
          </a:xfrm>
          <a:prstGeom prst="straightConnector1">
            <a:avLst/>
          </a:prstGeom>
          <a:noFill/>
          <a:ln cap="flat" cmpd="sng" w="28575">
            <a:solidFill>
              <a:srgbClr val="38323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C8C8C"/>
            </a:gs>
            <a:gs pos="100000">
              <a:srgbClr val="40404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/>
          <p:nvPr/>
        </p:nvSpPr>
        <p:spPr>
          <a:xfrm>
            <a:off x="7325" y="0"/>
            <a:ext cx="9144000" cy="5143500"/>
          </a:xfrm>
          <a:prstGeom prst="rect">
            <a:avLst/>
          </a:prstGeom>
          <a:noFill/>
          <a:ln cap="flat" cmpd="sng" w="114300">
            <a:solidFill>
              <a:srgbClr val="D65E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4"/>
          <p:cNvSpPr txBox="1"/>
          <p:nvPr/>
        </p:nvSpPr>
        <p:spPr>
          <a:xfrm>
            <a:off x="4675290" y="786308"/>
            <a:ext cx="37455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0"/>
              <a:t>⭐</a:t>
            </a:r>
            <a:endParaRPr sz="22000"/>
          </a:p>
        </p:txBody>
      </p:sp>
      <p:sp>
        <p:nvSpPr>
          <p:cNvPr id="205" name="Google Shape;205;p24"/>
          <p:cNvSpPr txBox="1"/>
          <p:nvPr/>
        </p:nvSpPr>
        <p:spPr>
          <a:xfrm>
            <a:off x="399500" y="681600"/>
            <a:ext cx="37002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0"/>
              <a:t>⚠️</a:t>
            </a:r>
            <a:endParaRPr sz="22000"/>
          </a:p>
        </p:txBody>
      </p:sp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714200" y="462450"/>
            <a:ext cx="3385500" cy="4218600"/>
          </a:xfrm>
          <a:prstGeom prst="rect">
            <a:avLst/>
          </a:prstGeom>
          <a:solidFill>
            <a:srgbClr val="EC5252">
              <a:alpha val="90000"/>
            </a:srgbClr>
          </a:solidFill>
          <a:ln cap="flat" cmpd="sng" w="19050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Limitations</a:t>
            </a:r>
            <a:endParaRPr b="1" sz="2000" u="sng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1600"/>
              <a:buFont typeface="Source Sans Pro"/>
              <a:buChar char="●"/>
            </a:pPr>
            <a:r>
              <a:rPr lang="en" sz="16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Men → Women translation required scaling</a:t>
            </a:r>
            <a:endParaRPr sz="16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1600"/>
              <a:buFont typeface="Source Sans Pro"/>
              <a:buChar char="●"/>
            </a:pPr>
            <a:r>
              <a:rPr lang="en" sz="16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Conference adjustments unstable at times</a:t>
            </a:r>
            <a:endParaRPr sz="16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1600"/>
              <a:buFont typeface="Source Sans Pro"/>
              <a:buChar char="●"/>
            </a:pPr>
            <a:r>
              <a:rPr lang="en" sz="16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Box-score only inputs</a:t>
            </a:r>
            <a:endParaRPr sz="16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1600"/>
              <a:buFont typeface="Source Sans Pro"/>
              <a:buChar char="●"/>
            </a:pPr>
            <a:r>
              <a:rPr lang="en" sz="16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Margin based team strength assumptions</a:t>
            </a:r>
            <a:endParaRPr sz="16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1600"/>
              <a:buFont typeface="Source Sans Pro"/>
              <a:buChar char="●"/>
            </a:pPr>
            <a:r>
              <a:rPr lang="en" sz="16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Data inconsistency across sources</a:t>
            </a:r>
            <a:endParaRPr sz="16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1600"/>
              <a:buFont typeface="Source Sans Pro"/>
              <a:buChar char="●"/>
            </a:pPr>
            <a:r>
              <a:rPr lang="en" sz="16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One-season validation</a:t>
            </a:r>
            <a:endParaRPr sz="16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4974900" y="462450"/>
            <a:ext cx="3385500" cy="4218600"/>
          </a:xfrm>
          <a:prstGeom prst="rect">
            <a:avLst/>
          </a:prstGeom>
          <a:solidFill>
            <a:srgbClr val="6FD960">
              <a:alpha val="90000"/>
            </a:srgbClr>
          </a:solidFill>
          <a:ln cap="flat" cmpd="sng" w="19050">
            <a:solidFill>
              <a:srgbClr val="383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Recommendations</a:t>
            </a:r>
            <a:endParaRPr b="1" sz="2000" u="sng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1600"/>
              <a:buFont typeface="Source Sans Pro"/>
              <a:buChar char="●"/>
            </a:pPr>
            <a:r>
              <a:rPr lang="en" sz="16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Add play-by-play and Synergy-style data</a:t>
            </a:r>
            <a:endParaRPr sz="16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1600"/>
              <a:buFont typeface="Source Sans Pro"/>
              <a:buChar char="●"/>
            </a:pPr>
            <a:r>
              <a:rPr lang="en" sz="16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 lineup-level impact in models (on/off, adjusted +/-)</a:t>
            </a:r>
            <a:endParaRPr sz="16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1600"/>
              <a:buFont typeface="Source Sans Pro"/>
              <a:buChar char="●"/>
            </a:pPr>
            <a:r>
              <a:rPr lang="en" sz="16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Gender specific scaling for positional value </a:t>
            </a:r>
            <a:endParaRPr sz="16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1600"/>
              <a:buFont typeface="Source Sans Pro"/>
              <a:buChar char="●"/>
            </a:pPr>
            <a:r>
              <a:rPr lang="en" sz="16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Automate school/team keys for reproducible matching</a:t>
            </a:r>
            <a:endParaRPr sz="16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1600"/>
              <a:buFont typeface="Source Sans Pro"/>
              <a:buChar char="●"/>
            </a:pPr>
            <a:r>
              <a:rPr lang="en" sz="16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Multi-season testing</a:t>
            </a:r>
            <a:endParaRPr sz="16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3232"/>
              </a:buClr>
              <a:buSzPts val="1600"/>
              <a:buFont typeface="Source Sans Pro"/>
              <a:buChar char="●"/>
            </a:pPr>
            <a:r>
              <a:rPr lang="en" sz="1600">
                <a:solidFill>
                  <a:srgbClr val="38323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Build interactive dashboard</a:t>
            </a:r>
            <a:endParaRPr sz="1600">
              <a:solidFill>
                <a:srgbClr val="38323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C8C8C"/>
            </a:gs>
            <a:gs pos="100000">
              <a:srgbClr val="40404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/>
          <p:nvPr/>
        </p:nvSpPr>
        <p:spPr>
          <a:xfrm>
            <a:off x="7325" y="0"/>
            <a:ext cx="9144000" cy="5143500"/>
          </a:xfrm>
          <a:prstGeom prst="rect">
            <a:avLst/>
          </a:prstGeom>
          <a:noFill/>
          <a:ln cap="flat" cmpd="sng" w="114300">
            <a:solidFill>
              <a:srgbClr val="D65E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25" title="Virginia_Tech_Hokies_logo.svg.png"/>
          <p:cNvPicPr preferRelativeResize="0"/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407950" y="587312"/>
            <a:ext cx="8328100" cy="396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5"/>
          <p:cNvSpPr/>
          <p:nvPr/>
        </p:nvSpPr>
        <p:spPr>
          <a:xfrm>
            <a:off x="1409275" y="1158338"/>
            <a:ext cx="6340099" cy="28268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861F41"/>
                </a:solidFill>
                <a:latin typeface="Source Sans Pro;90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